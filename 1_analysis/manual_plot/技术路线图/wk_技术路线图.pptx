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21599525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66" userDrawn="1">
          <p15:clr>
            <a:srgbClr val="A4A3A4"/>
          </p15:clr>
        </p15:guide>
        <p15:guide id="2" pos="2630" userDrawn="1">
          <p15:clr>
            <a:srgbClr val="A4A3A4"/>
          </p15:clr>
        </p15:guide>
        <p15:guide id="3" pos="6826" userDrawn="1">
          <p15:clr>
            <a:srgbClr val="A4A3A4"/>
          </p15:clr>
        </p15:guide>
        <p15:guide id="4" pos="111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94681"/>
  </p:normalViewPr>
  <p:slideViewPr>
    <p:cSldViewPr snapToGrid="0" showGuides="1">
      <p:cViewPr>
        <p:scale>
          <a:sx n="26" d="100"/>
          <a:sy n="26" d="100"/>
        </p:scale>
        <p:origin x="2176" y="200"/>
      </p:cViewPr>
      <p:guideLst>
        <p:guide orient="horz" pos="2766"/>
        <p:guide pos="2630"/>
        <p:guide pos="6826"/>
        <p:guide pos="111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1A71DD-165A-D04A-985F-67D53D8471B4}" type="datetimeFigureOut">
              <a:rPr kumimoji="1" lang="zh-CN" altLang="en-US" smtClean="0"/>
              <a:t>2025/8/4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657475" y="1143000"/>
            <a:ext cx="1543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6A4F2-E3D0-9B4C-95CD-7802B854B77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297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C6A4F2-E3D0-9B4C-95CD-7802B854B772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6512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7070108"/>
            <a:ext cx="18359596" cy="15040222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22690338"/>
            <a:ext cx="16199644" cy="10430151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2025/8/4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358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2025/8/4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1859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10770172"/>
            <a:ext cx="18629590" cy="17970262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28910440"/>
            <a:ext cx="18629590" cy="9450136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82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82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2025/8/4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12509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11500170"/>
            <a:ext cx="9179798" cy="274104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11500170"/>
            <a:ext cx="9179798" cy="274104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2025/8/4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85189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300044"/>
            <a:ext cx="18629590" cy="835012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10590160"/>
            <a:ext cx="9137610" cy="5190073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5780233"/>
            <a:ext cx="9137610" cy="232103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10590160"/>
            <a:ext cx="9182611" cy="5190073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15780233"/>
            <a:ext cx="9182611" cy="232103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2025/8/4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4974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2025/8/4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5834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2025/8/4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855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880042"/>
            <a:ext cx="6966409" cy="10080149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6220102"/>
            <a:ext cx="10934760" cy="30700453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12960191"/>
            <a:ext cx="6966409" cy="24010358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2025/8/4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841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880042"/>
            <a:ext cx="6966409" cy="10080149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6220102"/>
            <a:ext cx="10934760" cy="30700453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12960191"/>
            <a:ext cx="6966409" cy="24010358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2025/8/4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55746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2025/8/4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05090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2300034"/>
            <a:ext cx="4657398" cy="366105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2300034"/>
            <a:ext cx="13702199" cy="366105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30718-B82E-6449-BD04-ABC77837E66B}" type="datetimeFigureOut">
              <a:rPr kumimoji="1" lang="zh-CN" altLang="en-US" smtClean="0"/>
              <a:t>2025/8/4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6023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2300044"/>
            <a:ext cx="18629590" cy="8350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11500170"/>
            <a:ext cx="18629590" cy="27410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40040601"/>
            <a:ext cx="4859893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E30718-B82E-6449-BD04-ABC77837E66B}" type="datetimeFigureOut">
              <a:rPr kumimoji="1" lang="zh-CN" altLang="en-US" smtClean="0"/>
              <a:t>2025/8/4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40040601"/>
            <a:ext cx="7289840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40040601"/>
            <a:ext cx="4859893" cy="23000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106B27-219D-1045-9AD7-9456A901BC9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565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59996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【ref-pic】" hidden="1">
            <a:extLst>
              <a:ext uri="{FF2B5EF4-FFF2-40B4-BE49-F238E27FC236}">
                <a16:creationId xmlns:a16="http://schemas.microsoft.com/office/drawing/2014/main" id="{A9065CFA-34FB-9FB3-D40F-1280E8854A1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66000"/>
          </a:blip>
          <a:stretch>
            <a:fillRect/>
          </a:stretch>
        </p:blipFill>
        <p:spPr>
          <a:xfrm>
            <a:off x="3777139" y="1885063"/>
            <a:ext cx="13776960" cy="20418960"/>
          </a:xfrm>
          <a:prstGeom prst="rect">
            <a:avLst/>
          </a:prstGeom>
        </p:spPr>
      </p:pic>
      <p:sp>
        <p:nvSpPr>
          <p:cNvPr id="83" name="文本框 82">
            <a:extLst>
              <a:ext uri="{FF2B5EF4-FFF2-40B4-BE49-F238E27FC236}">
                <a16:creationId xmlns:a16="http://schemas.microsoft.com/office/drawing/2014/main" id="{BB72E790-88E3-D002-9CA9-6C57522EFB26}"/>
              </a:ext>
            </a:extLst>
          </p:cNvPr>
          <p:cNvSpPr txBox="1"/>
          <p:nvPr/>
        </p:nvSpPr>
        <p:spPr>
          <a:xfrm>
            <a:off x="29886442" y="29212674"/>
            <a:ext cx="250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·</a:t>
            </a:r>
            <a:endParaRPr kumimoji="1" lang="zh-CN" altLang="en-US" dirty="0"/>
          </a:p>
        </p:txBody>
      </p:sp>
      <p:sp>
        <p:nvSpPr>
          <p:cNvPr id="47" name="结果-frame">
            <a:extLst>
              <a:ext uri="{FF2B5EF4-FFF2-40B4-BE49-F238E27FC236}">
                <a16:creationId xmlns:a16="http://schemas.microsoft.com/office/drawing/2014/main" id="{8AB48775-A84B-EF0A-A08D-BAE25C8AF6F3}"/>
              </a:ext>
            </a:extLst>
          </p:cNvPr>
          <p:cNvSpPr/>
          <p:nvPr/>
        </p:nvSpPr>
        <p:spPr>
          <a:xfrm>
            <a:off x="13021879" y="10203065"/>
            <a:ext cx="5014051" cy="2165110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前因条件-frame">
            <a:extLst>
              <a:ext uri="{FF2B5EF4-FFF2-40B4-BE49-F238E27FC236}">
                <a16:creationId xmlns:a16="http://schemas.microsoft.com/office/drawing/2014/main" id="{8FD7392F-B7AE-2542-57A2-9C114ECD38E0}"/>
              </a:ext>
            </a:extLst>
          </p:cNvPr>
          <p:cNvSpPr/>
          <p:nvPr/>
        </p:nvSpPr>
        <p:spPr>
          <a:xfrm>
            <a:off x="3810002" y="10201035"/>
            <a:ext cx="4323282" cy="2165110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背景-frame">
            <a:extLst>
              <a:ext uri="{FF2B5EF4-FFF2-40B4-BE49-F238E27FC236}">
                <a16:creationId xmlns:a16="http://schemas.microsoft.com/office/drawing/2014/main" id="{F1057895-5A6F-C9CA-1391-F33AC35AAD32}"/>
              </a:ext>
            </a:extLst>
          </p:cNvPr>
          <p:cNvSpPr/>
          <p:nvPr/>
        </p:nvSpPr>
        <p:spPr>
          <a:xfrm>
            <a:off x="4179073" y="1349159"/>
            <a:ext cx="13347500" cy="1160861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政策背景">
            <a:extLst>
              <a:ext uri="{FF2B5EF4-FFF2-40B4-BE49-F238E27FC236}">
                <a16:creationId xmlns:a16="http://schemas.microsoft.com/office/drawing/2014/main" id="{D297CB0E-9282-9876-633A-4A0A3CDCE991}"/>
              </a:ext>
            </a:extLst>
          </p:cNvPr>
          <p:cNvSpPr txBox="1"/>
          <p:nvPr/>
        </p:nvSpPr>
        <p:spPr>
          <a:xfrm>
            <a:off x="6266656" y="1616747"/>
            <a:ext cx="2609850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政策背景</a:t>
            </a:r>
          </a:p>
        </p:txBody>
      </p:sp>
      <p:sp>
        <p:nvSpPr>
          <p:cNvPr id="7" name="现实背景">
            <a:extLst>
              <a:ext uri="{FF2B5EF4-FFF2-40B4-BE49-F238E27FC236}">
                <a16:creationId xmlns:a16="http://schemas.microsoft.com/office/drawing/2014/main" id="{F82BB2FA-6690-C72A-C513-61A37C5748D6}"/>
              </a:ext>
            </a:extLst>
          </p:cNvPr>
          <p:cNvSpPr txBox="1"/>
          <p:nvPr/>
        </p:nvSpPr>
        <p:spPr>
          <a:xfrm>
            <a:off x="12723020" y="1616747"/>
            <a:ext cx="2609850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现实背景</a:t>
            </a:r>
          </a:p>
        </p:txBody>
      </p:sp>
      <p:sp>
        <p:nvSpPr>
          <p:cNvPr id="9" name="＋">
            <a:extLst>
              <a:ext uri="{FF2B5EF4-FFF2-40B4-BE49-F238E27FC236}">
                <a16:creationId xmlns:a16="http://schemas.microsoft.com/office/drawing/2014/main" id="{A7052EF3-A23C-2288-C4D6-6B137624B7DD}"/>
              </a:ext>
            </a:extLst>
          </p:cNvPr>
          <p:cNvSpPr txBox="1"/>
          <p:nvPr/>
        </p:nvSpPr>
        <p:spPr>
          <a:xfrm>
            <a:off x="10520841" y="1309691"/>
            <a:ext cx="6639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7200" b="1" dirty="0"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endParaRPr kumimoji="1" lang="zh-CN" altLang="en-US" sz="72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" name="政策背景">
            <a:extLst>
              <a:ext uri="{FF2B5EF4-FFF2-40B4-BE49-F238E27FC236}">
                <a16:creationId xmlns:a16="http://schemas.microsoft.com/office/drawing/2014/main" id="{18E309EE-A539-FC45-4704-DFC1258E0B04}"/>
              </a:ext>
            </a:extLst>
          </p:cNvPr>
          <p:cNvSpPr txBox="1"/>
          <p:nvPr/>
        </p:nvSpPr>
        <p:spPr>
          <a:xfrm>
            <a:off x="4960761" y="3487712"/>
            <a:ext cx="12190891" cy="132343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使命导向创新视角下</a:t>
            </a:r>
            <a:endParaRPr kumimoji="1" lang="en-US" altLang="zh-CN" sz="40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地方政府推动科技创新的角色与路径研究</a:t>
            </a:r>
          </a:p>
        </p:txBody>
      </p:sp>
      <p:sp>
        <p:nvSpPr>
          <p:cNvPr id="13" name="现实背景">
            <a:extLst>
              <a:ext uri="{FF2B5EF4-FFF2-40B4-BE49-F238E27FC236}">
                <a16:creationId xmlns:a16="http://schemas.microsoft.com/office/drawing/2014/main" id="{0B60800B-B415-7A00-54EF-5E7BA65F5371}"/>
              </a:ext>
            </a:extLst>
          </p:cNvPr>
          <p:cNvSpPr txBox="1"/>
          <p:nvPr/>
        </p:nvSpPr>
        <p:spPr>
          <a:xfrm>
            <a:off x="17842172" y="3758743"/>
            <a:ext cx="2762078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latin typeface="SimHei" panose="02010609060101010101" pitchFamily="49" charset="-122"/>
                <a:ea typeface="SimHei" panose="02010609060101010101" pitchFamily="49" charset="-122"/>
              </a:rPr>
              <a:t>研究方法</a:t>
            </a:r>
          </a:p>
        </p:txBody>
      </p:sp>
      <p:sp>
        <p:nvSpPr>
          <p:cNvPr id="15" name="提出问题">
            <a:extLst>
              <a:ext uri="{FF2B5EF4-FFF2-40B4-BE49-F238E27FC236}">
                <a16:creationId xmlns:a16="http://schemas.microsoft.com/office/drawing/2014/main" id="{C4A94A29-E866-DAE4-6DAA-EEAC1920F30D}"/>
              </a:ext>
            </a:extLst>
          </p:cNvPr>
          <p:cNvSpPr txBox="1"/>
          <p:nvPr/>
        </p:nvSpPr>
        <p:spPr>
          <a:xfrm>
            <a:off x="510188" y="3758743"/>
            <a:ext cx="2762078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提出问题</a:t>
            </a:r>
          </a:p>
        </p:txBody>
      </p:sp>
      <p:sp>
        <p:nvSpPr>
          <p:cNvPr id="16" name="理论支撑">
            <a:extLst>
              <a:ext uri="{FF2B5EF4-FFF2-40B4-BE49-F238E27FC236}">
                <a16:creationId xmlns:a16="http://schemas.microsoft.com/office/drawing/2014/main" id="{172E7780-88ED-9B58-3A1F-487ED48854C2}"/>
              </a:ext>
            </a:extLst>
          </p:cNvPr>
          <p:cNvSpPr txBox="1"/>
          <p:nvPr/>
        </p:nvSpPr>
        <p:spPr>
          <a:xfrm>
            <a:off x="538779" y="7090845"/>
            <a:ext cx="2762078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理论支撑</a:t>
            </a:r>
          </a:p>
        </p:txBody>
      </p:sp>
      <p:sp>
        <p:nvSpPr>
          <p:cNvPr id="17" name="搭建框架">
            <a:extLst>
              <a:ext uri="{FF2B5EF4-FFF2-40B4-BE49-F238E27FC236}">
                <a16:creationId xmlns:a16="http://schemas.microsoft.com/office/drawing/2014/main" id="{4A5EE5F8-7A1E-B9D4-8BCC-CAB8FB43049E}"/>
              </a:ext>
            </a:extLst>
          </p:cNvPr>
          <p:cNvSpPr txBox="1"/>
          <p:nvPr/>
        </p:nvSpPr>
        <p:spPr>
          <a:xfrm>
            <a:off x="510188" y="10878991"/>
            <a:ext cx="2762078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搭建框架</a:t>
            </a:r>
          </a:p>
        </p:txBody>
      </p:sp>
      <p:sp>
        <p:nvSpPr>
          <p:cNvPr id="18" name="分析问题">
            <a:extLst>
              <a:ext uri="{FF2B5EF4-FFF2-40B4-BE49-F238E27FC236}">
                <a16:creationId xmlns:a16="http://schemas.microsoft.com/office/drawing/2014/main" id="{29E46C0B-A5CC-5507-1A32-EEE16C4B84E6}"/>
              </a:ext>
            </a:extLst>
          </p:cNvPr>
          <p:cNvSpPr txBox="1"/>
          <p:nvPr/>
        </p:nvSpPr>
        <p:spPr>
          <a:xfrm>
            <a:off x="510188" y="15151085"/>
            <a:ext cx="2762078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分析问题</a:t>
            </a:r>
          </a:p>
        </p:txBody>
      </p:sp>
      <p:sp>
        <p:nvSpPr>
          <p:cNvPr id="19" name="结论建议">
            <a:extLst>
              <a:ext uri="{FF2B5EF4-FFF2-40B4-BE49-F238E27FC236}">
                <a16:creationId xmlns:a16="http://schemas.microsoft.com/office/drawing/2014/main" id="{16E0681D-373D-4EF9-ABBF-AA2AE040BBFD}"/>
              </a:ext>
            </a:extLst>
          </p:cNvPr>
          <p:cNvSpPr txBox="1"/>
          <p:nvPr/>
        </p:nvSpPr>
        <p:spPr>
          <a:xfrm>
            <a:off x="510188" y="20258852"/>
            <a:ext cx="2762078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结论建议</a:t>
            </a:r>
          </a:p>
        </p:txBody>
      </p:sp>
      <p:sp>
        <p:nvSpPr>
          <p:cNvPr id="21" name="使命导向创新理论">
            <a:extLst>
              <a:ext uri="{FF2B5EF4-FFF2-40B4-BE49-F238E27FC236}">
                <a16:creationId xmlns:a16="http://schemas.microsoft.com/office/drawing/2014/main" id="{77400867-599F-45D0-8138-6EE8DE73FB32}"/>
              </a:ext>
            </a:extLst>
          </p:cNvPr>
          <p:cNvSpPr txBox="1"/>
          <p:nvPr/>
        </p:nvSpPr>
        <p:spPr>
          <a:xfrm>
            <a:off x="12302891" y="6326887"/>
            <a:ext cx="3668169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使命导向创新理论</a:t>
            </a:r>
          </a:p>
        </p:txBody>
      </p:sp>
      <p:sp>
        <p:nvSpPr>
          <p:cNvPr id="22" name="组态理论">
            <a:extLst>
              <a:ext uri="{FF2B5EF4-FFF2-40B4-BE49-F238E27FC236}">
                <a16:creationId xmlns:a16="http://schemas.microsoft.com/office/drawing/2014/main" id="{79E1E6D2-AAEA-93C4-E595-6532BF1AD68C}"/>
              </a:ext>
            </a:extLst>
          </p:cNvPr>
          <p:cNvSpPr txBox="1"/>
          <p:nvPr/>
        </p:nvSpPr>
        <p:spPr>
          <a:xfrm>
            <a:off x="12878129" y="8185310"/>
            <a:ext cx="3092932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组态理论</a:t>
            </a:r>
          </a:p>
        </p:txBody>
      </p:sp>
      <p:sp>
        <p:nvSpPr>
          <p:cNvPr id="23" name="理论基础">
            <a:extLst>
              <a:ext uri="{FF2B5EF4-FFF2-40B4-BE49-F238E27FC236}">
                <a16:creationId xmlns:a16="http://schemas.microsoft.com/office/drawing/2014/main" id="{BD5447BE-3EA0-E682-6CC6-D2097A92856E}"/>
              </a:ext>
            </a:extLst>
          </p:cNvPr>
          <p:cNvSpPr txBox="1"/>
          <p:nvPr/>
        </p:nvSpPr>
        <p:spPr>
          <a:xfrm>
            <a:off x="16611792" y="7056139"/>
            <a:ext cx="1282098" cy="107721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理论基础</a:t>
            </a:r>
          </a:p>
        </p:txBody>
      </p:sp>
      <p:sp>
        <p:nvSpPr>
          <p:cNvPr id="24" name="右大括号 23">
            <a:extLst>
              <a:ext uri="{FF2B5EF4-FFF2-40B4-BE49-F238E27FC236}">
                <a16:creationId xmlns:a16="http://schemas.microsoft.com/office/drawing/2014/main" id="{8F324C41-1CC1-BA27-25DB-19EF400361B0}"/>
              </a:ext>
            </a:extLst>
          </p:cNvPr>
          <p:cNvSpPr/>
          <p:nvPr/>
        </p:nvSpPr>
        <p:spPr>
          <a:xfrm>
            <a:off x="16039478" y="6588497"/>
            <a:ext cx="474285" cy="1878759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概念界定">
            <a:extLst>
              <a:ext uri="{FF2B5EF4-FFF2-40B4-BE49-F238E27FC236}">
                <a16:creationId xmlns:a16="http://schemas.microsoft.com/office/drawing/2014/main" id="{625626B0-FC1F-FBE2-968D-904AF4A08BF7}"/>
              </a:ext>
            </a:extLst>
          </p:cNvPr>
          <p:cNvSpPr txBox="1"/>
          <p:nvPr/>
        </p:nvSpPr>
        <p:spPr>
          <a:xfrm>
            <a:off x="3959635" y="6933028"/>
            <a:ext cx="1244278" cy="107721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概念界定</a:t>
            </a:r>
          </a:p>
        </p:txBody>
      </p:sp>
      <p:sp>
        <p:nvSpPr>
          <p:cNvPr id="26" name="省级政府">
            <a:extLst>
              <a:ext uri="{FF2B5EF4-FFF2-40B4-BE49-F238E27FC236}">
                <a16:creationId xmlns:a16="http://schemas.microsoft.com/office/drawing/2014/main" id="{CC92547F-B170-A8DA-93BA-3B7E81BCE3F6}"/>
              </a:ext>
            </a:extLst>
          </p:cNvPr>
          <p:cNvSpPr txBox="1"/>
          <p:nvPr/>
        </p:nvSpPr>
        <p:spPr>
          <a:xfrm>
            <a:off x="5788084" y="6362921"/>
            <a:ext cx="2219429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省级政府</a:t>
            </a:r>
          </a:p>
        </p:txBody>
      </p:sp>
      <p:sp>
        <p:nvSpPr>
          <p:cNvPr id="27" name="角色">
            <a:extLst>
              <a:ext uri="{FF2B5EF4-FFF2-40B4-BE49-F238E27FC236}">
                <a16:creationId xmlns:a16="http://schemas.microsoft.com/office/drawing/2014/main" id="{C24E231D-5135-9FB4-2EF6-D70ABA7D014F}"/>
              </a:ext>
            </a:extLst>
          </p:cNvPr>
          <p:cNvSpPr txBox="1"/>
          <p:nvPr/>
        </p:nvSpPr>
        <p:spPr>
          <a:xfrm>
            <a:off x="5773412" y="7273150"/>
            <a:ext cx="5637814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角色：基于使命导向创新视角</a:t>
            </a:r>
          </a:p>
        </p:txBody>
      </p:sp>
      <p:sp>
        <p:nvSpPr>
          <p:cNvPr id="28" name="右大括号 27">
            <a:extLst>
              <a:ext uri="{FF2B5EF4-FFF2-40B4-BE49-F238E27FC236}">
                <a16:creationId xmlns:a16="http://schemas.microsoft.com/office/drawing/2014/main" id="{0BE17D0E-8249-02CA-F7FD-DF2C93B81869}"/>
              </a:ext>
            </a:extLst>
          </p:cNvPr>
          <p:cNvSpPr/>
          <p:nvPr/>
        </p:nvSpPr>
        <p:spPr>
          <a:xfrm rot="10800000">
            <a:off x="5245382" y="6564603"/>
            <a:ext cx="474285" cy="1878759"/>
          </a:xfrm>
          <a:prstGeom prst="rightBrac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路径">
            <a:extLst>
              <a:ext uri="{FF2B5EF4-FFF2-40B4-BE49-F238E27FC236}">
                <a16:creationId xmlns:a16="http://schemas.microsoft.com/office/drawing/2014/main" id="{F57F0008-D6BD-FA03-D261-9A9CE1944CD5}"/>
              </a:ext>
            </a:extLst>
          </p:cNvPr>
          <p:cNvSpPr txBox="1"/>
          <p:nvPr/>
        </p:nvSpPr>
        <p:spPr>
          <a:xfrm>
            <a:off x="5773911" y="8185310"/>
            <a:ext cx="6040984" cy="5847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3200" dirty="0">
                <a:latin typeface="SimHei" panose="02010609060101010101" pitchFamily="49" charset="-122"/>
                <a:ea typeface="SimHei" panose="02010609060101010101" pitchFamily="49" charset="-122"/>
              </a:rPr>
              <a:t>路径：基于组态视角的因果识别</a:t>
            </a:r>
          </a:p>
        </p:txBody>
      </p:sp>
      <p:cxnSp>
        <p:nvCxnSpPr>
          <p:cNvPr id="31" name="直线连接符 30">
            <a:extLst>
              <a:ext uri="{FF2B5EF4-FFF2-40B4-BE49-F238E27FC236}">
                <a16:creationId xmlns:a16="http://schemas.microsoft.com/office/drawing/2014/main" id="{0742F9E8-CBEC-3034-CCB2-3DBF1D89BB3E}"/>
              </a:ext>
            </a:extLst>
          </p:cNvPr>
          <p:cNvCxnSpPr>
            <a:cxnSpLocks/>
            <a:stCxn id="27" idx="3"/>
            <a:endCxn id="21" idx="1"/>
          </p:cNvCxnSpPr>
          <p:nvPr/>
        </p:nvCxnSpPr>
        <p:spPr>
          <a:xfrm flipV="1">
            <a:off x="11411226" y="6619275"/>
            <a:ext cx="891665" cy="946263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5D8B9740-949F-AF71-7943-F99812AE5909}"/>
              </a:ext>
            </a:extLst>
          </p:cNvPr>
          <p:cNvCxnSpPr>
            <a:cxnSpLocks/>
            <a:stCxn id="29" idx="3"/>
            <a:endCxn id="22" idx="1"/>
          </p:cNvCxnSpPr>
          <p:nvPr/>
        </p:nvCxnSpPr>
        <p:spPr>
          <a:xfrm>
            <a:off x="11814895" y="8477698"/>
            <a:ext cx="106323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省级政府">
            <a:extLst>
              <a:ext uri="{FF2B5EF4-FFF2-40B4-BE49-F238E27FC236}">
                <a16:creationId xmlns:a16="http://schemas.microsoft.com/office/drawing/2014/main" id="{3FD41D20-50E8-8A43-BC7D-B0D146135624}"/>
              </a:ext>
            </a:extLst>
          </p:cNvPr>
          <p:cNvSpPr txBox="1"/>
          <p:nvPr/>
        </p:nvSpPr>
        <p:spPr>
          <a:xfrm>
            <a:off x="6356084" y="10714181"/>
            <a:ext cx="1414050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latin typeface="SimHei" panose="02010609060101010101" pitchFamily="49" charset="-122"/>
                <a:ea typeface="SimHei" panose="02010609060101010101" pitchFamily="49" charset="-122"/>
              </a:rPr>
              <a:t>政府行为</a:t>
            </a:r>
          </a:p>
        </p:txBody>
      </p:sp>
      <p:sp>
        <p:nvSpPr>
          <p:cNvPr id="36" name="省级政府">
            <a:extLst>
              <a:ext uri="{FF2B5EF4-FFF2-40B4-BE49-F238E27FC236}">
                <a16:creationId xmlns:a16="http://schemas.microsoft.com/office/drawing/2014/main" id="{854E2070-A4DC-3692-867B-A10345009FC1}"/>
              </a:ext>
            </a:extLst>
          </p:cNvPr>
          <p:cNvSpPr txBox="1"/>
          <p:nvPr/>
        </p:nvSpPr>
        <p:spPr>
          <a:xfrm>
            <a:off x="4173893" y="10699928"/>
            <a:ext cx="1339669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latin typeface="SimHei" panose="02010609060101010101" pitchFamily="49" charset="-122"/>
                <a:ea typeface="SimHei" panose="02010609060101010101" pitchFamily="49" charset="-122"/>
              </a:rPr>
              <a:t>政府角色</a:t>
            </a:r>
          </a:p>
        </p:txBody>
      </p:sp>
      <p:sp>
        <p:nvSpPr>
          <p:cNvPr id="39" name="省级政府">
            <a:extLst>
              <a:ext uri="{FF2B5EF4-FFF2-40B4-BE49-F238E27FC236}">
                <a16:creationId xmlns:a16="http://schemas.microsoft.com/office/drawing/2014/main" id="{6ECD4E15-B4E5-75B7-9FE0-3571361B21D5}"/>
              </a:ext>
            </a:extLst>
          </p:cNvPr>
          <p:cNvSpPr txBox="1"/>
          <p:nvPr/>
        </p:nvSpPr>
        <p:spPr>
          <a:xfrm>
            <a:off x="13509394" y="10728689"/>
            <a:ext cx="4004589" cy="120032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3600" dirty="0">
                <a:latin typeface="SimHei" panose="02010609060101010101" pitchFamily="49" charset="-122"/>
                <a:ea typeface="SimHei" panose="02010609060101010101" pitchFamily="49" charset="-122"/>
              </a:rPr>
              <a:t>高（低）</a:t>
            </a:r>
            <a:endParaRPr kumimoji="1" lang="en-US" altLang="zh-CN" sz="3600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algn="ctr"/>
            <a:r>
              <a:rPr kumimoji="1" lang="zh-CN" altLang="en-US" sz="3600" dirty="0">
                <a:latin typeface="SimHei" panose="02010609060101010101" pitchFamily="49" charset="-122"/>
                <a:ea typeface="SimHei" panose="02010609060101010101" pitchFamily="49" charset="-122"/>
              </a:rPr>
              <a:t>区域科技创新能力</a:t>
            </a:r>
          </a:p>
        </p:txBody>
      </p:sp>
      <p:sp>
        <p:nvSpPr>
          <p:cNvPr id="43" name="前因条件">
            <a:extLst>
              <a:ext uri="{FF2B5EF4-FFF2-40B4-BE49-F238E27FC236}">
                <a16:creationId xmlns:a16="http://schemas.microsoft.com/office/drawing/2014/main" id="{C6DC42E0-5D86-DD06-42D6-AE67DE34540B}"/>
              </a:ext>
            </a:extLst>
          </p:cNvPr>
          <p:cNvSpPr txBox="1"/>
          <p:nvPr/>
        </p:nvSpPr>
        <p:spPr>
          <a:xfrm>
            <a:off x="4875013" y="9837017"/>
            <a:ext cx="2031325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latin typeface="SimHei" panose="02010609060101010101" pitchFamily="49" charset="-122"/>
                <a:ea typeface="SimHei" panose="02010609060101010101" pitchFamily="49" charset="-122"/>
              </a:rPr>
              <a:t>前因条件</a:t>
            </a:r>
          </a:p>
        </p:txBody>
      </p:sp>
      <p:sp>
        <p:nvSpPr>
          <p:cNvPr id="44" name="前因条件">
            <a:extLst>
              <a:ext uri="{FF2B5EF4-FFF2-40B4-BE49-F238E27FC236}">
                <a16:creationId xmlns:a16="http://schemas.microsoft.com/office/drawing/2014/main" id="{317CA973-7C4B-AF8A-891E-FD75D1C13C48}"/>
              </a:ext>
            </a:extLst>
          </p:cNvPr>
          <p:cNvSpPr txBox="1"/>
          <p:nvPr/>
        </p:nvSpPr>
        <p:spPr>
          <a:xfrm>
            <a:off x="14931482" y="9898291"/>
            <a:ext cx="1107996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latin typeface="SimHei" panose="02010609060101010101" pitchFamily="49" charset="-122"/>
                <a:ea typeface="SimHei" panose="02010609060101010101" pitchFamily="49" charset="-122"/>
              </a:rPr>
              <a:t>结果</a:t>
            </a:r>
          </a:p>
        </p:txBody>
      </p: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18A9DF0D-AB9E-E3B7-2425-271BEBC7E516}"/>
              </a:ext>
            </a:extLst>
          </p:cNvPr>
          <p:cNvCxnSpPr>
            <a:cxnSpLocks/>
          </p:cNvCxnSpPr>
          <p:nvPr/>
        </p:nvCxnSpPr>
        <p:spPr>
          <a:xfrm flipV="1">
            <a:off x="8201128" y="11588063"/>
            <a:ext cx="5023771" cy="7268"/>
          </a:xfrm>
          <a:prstGeom prst="straightConnector1">
            <a:avLst/>
          </a:prstGeom>
          <a:ln w="203200">
            <a:solidFill>
              <a:schemeClr val="tx1">
                <a:alpha val="64122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7C3B34F3-60E1-C331-93AD-6D51DC3229E2}"/>
              </a:ext>
            </a:extLst>
          </p:cNvPr>
          <p:cNvCxnSpPr>
            <a:cxnSpLocks/>
          </p:cNvCxnSpPr>
          <p:nvPr/>
        </p:nvCxnSpPr>
        <p:spPr>
          <a:xfrm flipH="1" flipV="1">
            <a:off x="7900325" y="11028988"/>
            <a:ext cx="5011503" cy="25467"/>
          </a:xfrm>
          <a:prstGeom prst="straightConnector1">
            <a:avLst/>
          </a:prstGeom>
          <a:ln w="203200">
            <a:solidFill>
              <a:schemeClr val="tx1">
                <a:alpha val="64122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5E09B00C-D94C-CD34-C1C7-143A4DD8C268}"/>
              </a:ext>
            </a:extLst>
          </p:cNvPr>
          <p:cNvSpPr txBox="1"/>
          <p:nvPr/>
        </p:nvSpPr>
        <p:spPr>
          <a:xfrm>
            <a:off x="8569380" y="11698050"/>
            <a:ext cx="4387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latin typeface="SimHei" panose="02010609060101010101" pitchFamily="49" charset="-122"/>
                <a:ea typeface="SimHei" panose="02010609060101010101" pitchFamily="49" charset="-122"/>
              </a:rPr>
              <a:t>条件组态</a:t>
            </a:r>
            <a:r>
              <a:rPr kumimoji="1" lang="zh-CN" altLang="en-US" sz="3600" b="1" dirty="0">
                <a:latin typeface="SimHei" panose="02010609060101010101" pitchFamily="49" charset="-122"/>
                <a:ea typeface="SimHei" panose="02010609060101010101" pitchFamily="49" charset="-122"/>
              </a:rPr>
              <a:t>充分性分析</a:t>
            </a:r>
          </a:p>
        </p:txBody>
      </p:sp>
      <p:sp>
        <p:nvSpPr>
          <p:cNvPr id="57" name="必要性">
            <a:extLst>
              <a:ext uri="{FF2B5EF4-FFF2-40B4-BE49-F238E27FC236}">
                <a16:creationId xmlns:a16="http://schemas.microsoft.com/office/drawing/2014/main" id="{9F21DA22-BA4B-F0F8-3905-0F58B788CD18}"/>
              </a:ext>
            </a:extLst>
          </p:cNvPr>
          <p:cNvSpPr txBox="1"/>
          <p:nvPr/>
        </p:nvSpPr>
        <p:spPr>
          <a:xfrm>
            <a:off x="8568761" y="10201872"/>
            <a:ext cx="4387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latin typeface="SimHei" panose="02010609060101010101" pitchFamily="49" charset="-122"/>
                <a:ea typeface="SimHei" panose="02010609060101010101" pitchFamily="49" charset="-122"/>
              </a:rPr>
              <a:t>单一条件</a:t>
            </a:r>
            <a:r>
              <a:rPr kumimoji="1" lang="zh-CN" altLang="en-US" sz="3600" b="1" dirty="0">
                <a:latin typeface="SimHei" panose="02010609060101010101" pitchFamily="49" charset="-122"/>
                <a:ea typeface="SimHei" panose="02010609060101010101" pitchFamily="49" charset="-122"/>
              </a:rPr>
              <a:t>必要性分析</a:t>
            </a:r>
          </a:p>
        </p:txBody>
      </p:sp>
      <p:sp>
        <p:nvSpPr>
          <p:cNvPr id="84" name="案例样本选择">
            <a:extLst>
              <a:ext uri="{FF2B5EF4-FFF2-40B4-BE49-F238E27FC236}">
                <a16:creationId xmlns:a16="http://schemas.microsoft.com/office/drawing/2014/main" id="{37D72986-77CE-E1E1-97A9-3952B71EFFFD}"/>
              </a:ext>
            </a:extLst>
          </p:cNvPr>
          <p:cNvSpPr/>
          <p:nvPr/>
        </p:nvSpPr>
        <p:spPr>
          <a:xfrm>
            <a:off x="4785234" y="14301348"/>
            <a:ext cx="726612" cy="34548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案例样本选择</a:t>
            </a:r>
          </a:p>
        </p:txBody>
      </p:sp>
      <p:sp>
        <p:nvSpPr>
          <p:cNvPr id="85" name="变量测量校准">
            <a:extLst>
              <a:ext uri="{FF2B5EF4-FFF2-40B4-BE49-F238E27FC236}">
                <a16:creationId xmlns:a16="http://schemas.microsoft.com/office/drawing/2014/main" id="{DFFBE39E-135D-17B2-0405-356C30F54802}"/>
              </a:ext>
            </a:extLst>
          </p:cNvPr>
          <p:cNvSpPr/>
          <p:nvPr/>
        </p:nvSpPr>
        <p:spPr>
          <a:xfrm>
            <a:off x="7107998" y="14301348"/>
            <a:ext cx="663964" cy="345485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变量测量校准</a:t>
            </a:r>
          </a:p>
        </p:txBody>
      </p:sp>
      <p:sp>
        <p:nvSpPr>
          <p:cNvPr id="87" name="必要性分析">
            <a:extLst>
              <a:ext uri="{FF2B5EF4-FFF2-40B4-BE49-F238E27FC236}">
                <a16:creationId xmlns:a16="http://schemas.microsoft.com/office/drawing/2014/main" id="{5D9823E8-BBE3-999B-0835-DC07A1B0569E}"/>
              </a:ext>
            </a:extLst>
          </p:cNvPr>
          <p:cNvSpPr/>
          <p:nvPr/>
        </p:nvSpPr>
        <p:spPr>
          <a:xfrm>
            <a:off x="9368114" y="14301349"/>
            <a:ext cx="663964" cy="345484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必要性分析</a:t>
            </a:r>
          </a:p>
        </p:txBody>
      </p:sp>
      <p:sp>
        <p:nvSpPr>
          <p:cNvPr id="88" name="充分性分析">
            <a:extLst>
              <a:ext uri="{FF2B5EF4-FFF2-40B4-BE49-F238E27FC236}">
                <a16:creationId xmlns:a16="http://schemas.microsoft.com/office/drawing/2014/main" id="{5E00223C-D4E7-8B5E-0F6A-C416DB738690}"/>
              </a:ext>
            </a:extLst>
          </p:cNvPr>
          <p:cNvSpPr/>
          <p:nvPr/>
        </p:nvSpPr>
        <p:spPr>
          <a:xfrm>
            <a:off x="11628230" y="14308195"/>
            <a:ext cx="663964" cy="344115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充分性分析</a:t>
            </a:r>
          </a:p>
        </p:txBody>
      </p:sp>
      <p:sp>
        <p:nvSpPr>
          <p:cNvPr id="89" name="路径演化分析">
            <a:extLst>
              <a:ext uri="{FF2B5EF4-FFF2-40B4-BE49-F238E27FC236}">
                <a16:creationId xmlns:a16="http://schemas.microsoft.com/office/drawing/2014/main" id="{526BB1A6-788B-8B9B-C19C-1B11F9259033}"/>
              </a:ext>
            </a:extLst>
          </p:cNvPr>
          <p:cNvSpPr/>
          <p:nvPr/>
        </p:nvSpPr>
        <p:spPr>
          <a:xfrm>
            <a:off x="13888346" y="14315041"/>
            <a:ext cx="663964" cy="34274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路径演化分析</a:t>
            </a:r>
          </a:p>
        </p:txBody>
      </p:sp>
      <p:sp>
        <p:nvSpPr>
          <p:cNvPr id="90" name="角色演化分析">
            <a:extLst>
              <a:ext uri="{FF2B5EF4-FFF2-40B4-BE49-F238E27FC236}">
                <a16:creationId xmlns:a16="http://schemas.microsoft.com/office/drawing/2014/main" id="{874D6268-957C-2A05-4B36-18B29B5A516E}"/>
              </a:ext>
            </a:extLst>
          </p:cNvPr>
          <p:cNvSpPr/>
          <p:nvPr/>
        </p:nvSpPr>
        <p:spPr>
          <a:xfrm>
            <a:off x="16148462" y="14315041"/>
            <a:ext cx="663964" cy="342746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+mn-cs"/>
              </a:rPr>
              <a:t>角色演化分析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37BFAD36-7C4E-7F5D-907B-61614B6DFD83}"/>
              </a:ext>
            </a:extLst>
          </p:cNvPr>
          <p:cNvSpPr/>
          <p:nvPr/>
        </p:nvSpPr>
        <p:spPr>
          <a:xfrm>
            <a:off x="12903303" y="13273962"/>
            <a:ext cx="2417662" cy="853332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zh-CN" altLang="en-US" sz="3200" dirty="0">
                <a:solidFill>
                  <a:prstClr val="black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基于</a:t>
            </a:r>
            <a:r>
              <a:rPr kumimoji="1" lang="en-US" altLang="zh-CN" sz="3200" dirty="0">
                <a:solidFill>
                  <a:prstClr val="black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BECON</a:t>
            </a:r>
            <a:r>
              <a:rPr kumimoji="1" lang="zh-CN" altLang="en-US" sz="3200" dirty="0">
                <a:solidFill>
                  <a:prstClr val="black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与</a:t>
            </a:r>
            <a:r>
              <a:rPr kumimoji="1" lang="en-US" altLang="zh-CN" sz="3200" dirty="0">
                <a:solidFill>
                  <a:prstClr val="black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BECOV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E87681BB-68F7-AAB9-7851-CCF57F4F1F4E}"/>
              </a:ext>
            </a:extLst>
          </p:cNvPr>
          <p:cNvSpPr/>
          <p:nvPr/>
        </p:nvSpPr>
        <p:spPr>
          <a:xfrm>
            <a:off x="15137491" y="13307516"/>
            <a:ext cx="2659566" cy="752378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kumimoji="1" lang="zh-CN" altLang="en-US" sz="3200" dirty="0">
                <a:solidFill>
                  <a:prstClr val="black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基于典型案例</a:t>
            </a:r>
            <a:r>
              <a:rPr kumimoji="1" lang="en-US" altLang="zh-CN" sz="3200" dirty="0">
                <a:solidFill>
                  <a:prstClr val="black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PIMS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  <a:cs typeface="+mn-cs"/>
            </a:endParaRPr>
          </a:p>
        </p:txBody>
      </p:sp>
      <p:cxnSp>
        <p:nvCxnSpPr>
          <p:cNvPr id="95" name="直线箭头连接符 94">
            <a:extLst>
              <a:ext uri="{FF2B5EF4-FFF2-40B4-BE49-F238E27FC236}">
                <a16:creationId xmlns:a16="http://schemas.microsoft.com/office/drawing/2014/main" id="{405F6FDB-8513-48D3-4C9F-EA15FE6FF7DA}"/>
              </a:ext>
            </a:extLst>
          </p:cNvPr>
          <p:cNvCxnSpPr>
            <a:cxnSpLocks/>
            <a:stCxn id="84" idx="3"/>
            <a:endCxn id="85" idx="1"/>
          </p:cNvCxnSpPr>
          <p:nvPr/>
        </p:nvCxnSpPr>
        <p:spPr>
          <a:xfrm>
            <a:off x="5511846" y="16028773"/>
            <a:ext cx="1596152" cy="0"/>
          </a:xfrm>
          <a:prstGeom prst="straightConnector1">
            <a:avLst/>
          </a:prstGeom>
          <a:ln w="127000">
            <a:solidFill>
              <a:schemeClr val="tx1">
                <a:alpha val="64122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线箭头连接符 98">
            <a:extLst>
              <a:ext uri="{FF2B5EF4-FFF2-40B4-BE49-F238E27FC236}">
                <a16:creationId xmlns:a16="http://schemas.microsoft.com/office/drawing/2014/main" id="{236655F0-E5E4-ECF2-8803-C2BE052A86D2}"/>
              </a:ext>
            </a:extLst>
          </p:cNvPr>
          <p:cNvCxnSpPr>
            <a:cxnSpLocks/>
            <a:stCxn id="85" idx="3"/>
            <a:endCxn id="87" idx="1"/>
          </p:cNvCxnSpPr>
          <p:nvPr/>
        </p:nvCxnSpPr>
        <p:spPr>
          <a:xfrm>
            <a:off x="7771962" y="16028773"/>
            <a:ext cx="1596152" cy="1"/>
          </a:xfrm>
          <a:prstGeom prst="straightConnector1">
            <a:avLst/>
          </a:prstGeom>
          <a:ln w="127000">
            <a:solidFill>
              <a:schemeClr val="tx1">
                <a:alpha val="64122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F1D4A628-5F6C-59D7-365E-1883139F7D2C}"/>
              </a:ext>
            </a:extLst>
          </p:cNvPr>
          <p:cNvCxnSpPr>
            <a:cxnSpLocks/>
            <a:stCxn id="87" idx="3"/>
            <a:endCxn id="88" idx="1"/>
          </p:cNvCxnSpPr>
          <p:nvPr/>
        </p:nvCxnSpPr>
        <p:spPr>
          <a:xfrm>
            <a:off x="10032078" y="16028774"/>
            <a:ext cx="1596152" cy="0"/>
          </a:xfrm>
          <a:prstGeom prst="straightConnector1">
            <a:avLst/>
          </a:prstGeom>
          <a:ln w="127000">
            <a:solidFill>
              <a:schemeClr val="tx1">
                <a:alpha val="64122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直线箭头连接符 106">
            <a:extLst>
              <a:ext uri="{FF2B5EF4-FFF2-40B4-BE49-F238E27FC236}">
                <a16:creationId xmlns:a16="http://schemas.microsoft.com/office/drawing/2014/main" id="{CF0293BE-6CDD-925A-94FC-B704E405F79F}"/>
              </a:ext>
            </a:extLst>
          </p:cNvPr>
          <p:cNvCxnSpPr>
            <a:cxnSpLocks/>
            <a:stCxn id="88" idx="3"/>
            <a:endCxn id="89" idx="1"/>
          </p:cNvCxnSpPr>
          <p:nvPr/>
        </p:nvCxnSpPr>
        <p:spPr>
          <a:xfrm>
            <a:off x="12292194" y="16028774"/>
            <a:ext cx="1596152" cy="0"/>
          </a:xfrm>
          <a:prstGeom prst="straightConnector1">
            <a:avLst/>
          </a:prstGeom>
          <a:ln w="127000">
            <a:solidFill>
              <a:schemeClr val="tx1">
                <a:alpha val="64122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直线箭头连接符 109">
            <a:extLst>
              <a:ext uri="{FF2B5EF4-FFF2-40B4-BE49-F238E27FC236}">
                <a16:creationId xmlns:a16="http://schemas.microsoft.com/office/drawing/2014/main" id="{6E5F245C-6101-15EF-78E6-58BDA2C38E05}"/>
              </a:ext>
            </a:extLst>
          </p:cNvPr>
          <p:cNvCxnSpPr>
            <a:cxnSpLocks/>
            <a:stCxn id="89" idx="3"/>
            <a:endCxn id="90" idx="1"/>
          </p:cNvCxnSpPr>
          <p:nvPr/>
        </p:nvCxnSpPr>
        <p:spPr>
          <a:xfrm>
            <a:off x="14552310" y="16028774"/>
            <a:ext cx="1596152" cy="0"/>
          </a:xfrm>
          <a:prstGeom prst="straightConnector1">
            <a:avLst/>
          </a:prstGeom>
          <a:ln w="127000">
            <a:solidFill>
              <a:schemeClr val="tx1">
                <a:alpha val="64122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背景-frame">
            <a:extLst>
              <a:ext uri="{FF2B5EF4-FFF2-40B4-BE49-F238E27FC236}">
                <a16:creationId xmlns:a16="http://schemas.microsoft.com/office/drawing/2014/main" id="{8D78214D-01E8-1539-7194-C803B91AA359}"/>
              </a:ext>
            </a:extLst>
          </p:cNvPr>
          <p:cNvSpPr/>
          <p:nvPr/>
        </p:nvSpPr>
        <p:spPr>
          <a:xfrm>
            <a:off x="4179073" y="13765631"/>
            <a:ext cx="13497930" cy="4329602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5" name="结论建议">
            <a:extLst>
              <a:ext uri="{FF2B5EF4-FFF2-40B4-BE49-F238E27FC236}">
                <a16:creationId xmlns:a16="http://schemas.microsoft.com/office/drawing/2014/main" id="{63D507A4-1B90-C6F5-7802-59EB93AE0DA6}"/>
              </a:ext>
            </a:extLst>
          </p:cNvPr>
          <p:cNvSpPr txBox="1"/>
          <p:nvPr/>
        </p:nvSpPr>
        <p:spPr>
          <a:xfrm>
            <a:off x="7068050" y="20020711"/>
            <a:ext cx="7516004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对策建议</a:t>
            </a:r>
          </a:p>
        </p:txBody>
      </p:sp>
      <p:sp>
        <p:nvSpPr>
          <p:cNvPr id="116" name="结论建议">
            <a:extLst>
              <a:ext uri="{FF2B5EF4-FFF2-40B4-BE49-F238E27FC236}">
                <a16:creationId xmlns:a16="http://schemas.microsoft.com/office/drawing/2014/main" id="{38234555-6A6C-751C-CE31-D43EF5278651}"/>
              </a:ext>
            </a:extLst>
          </p:cNvPr>
          <p:cNvSpPr txBox="1"/>
          <p:nvPr/>
        </p:nvSpPr>
        <p:spPr>
          <a:xfrm>
            <a:off x="7068049" y="21011158"/>
            <a:ext cx="7516003" cy="70788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dirty="0">
                <a:latin typeface="SimHei" panose="02010609060101010101" pitchFamily="49" charset="-122"/>
                <a:ea typeface="SimHei" panose="02010609060101010101" pitchFamily="49" charset="-122"/>
              </a:rPr>
              <a:t>不足与展望</a:t>
            </a:r>
          </a:p>
        </p:txBody>
      </p:sp>
      <p:sp>
        <p:nvSpPr>
          <p:cNvPr id="118" name="充分性分析">
            <a:extLst>
              <a:ext uri="{FF2B5EF4-FFF2-40B4-BE49-F238E27FC236}">
                <a16:creationId xmlns:a16="http://schemas.microsoft.com/office/drawing/2014/main" id="{9C76BAF8-C57A-765E-F4D7-FD365C8B594D}"/>
              </a:ext>
            </a:extLst>
          </p:cNvPr>
          <p:cNvSpPr/>
          <p:nvPr/>
        </p:nvSpPr>
        <p:spPr>
          <a:xfrm>
            <a:off x="18035934" y="13745729"/>
            <a:ext cx="2374554" cy="4171704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36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动态</a:t>
            </a:r>
            <a:r>
              <a:rPr kumimoji="1" lang="en-US" altLang="zh-CN" sz="3600" dirty="0">
                <a:solidFill>
                  <a:schemeClr val="tx1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QCA</a:t>
            </a:r>
            <a:endParaRPr kumimoji="1" lang="zh-CN" altLang="en-US" sz="3600" dirty="0">
              <a:solidFill>
                <a:schemeClr val="tx1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" name="背景-frame">
            <a:extLst>
              <a:ext uri="{FF2B5EF4-FFF2-40B4-BE49-F238E27FC236}">
                <a16:creationId xmlns:a16="http://schemas.microsoft.com/office/drawing/2014/main" id="{069FE4D2-CEEE-968B-D56C-D2A9FBC81BCC}"/>
              </a:ext>
            </a:extLst>
          </p:cNvPr>
          <p:cNvSpPr/>
          <p:nvPr/>
        </p:nvSpPr>
        <p:spPr>
          <a:xfrm>
            <a:off x="4236256" y="19630861"/>
            <a:ext cx="13497930" cy="2379498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背景-frame">
            <a:extLst>
              <a:ext uri="{FF2B5EF4-FFF2-40B4-BE49-F238E27FC236}">
                <a16:creationId xmlns:a16="http://schemas.microsoft.com/office/drawing/2014/main" id="{1BDE9068-EC0B-D6E0-1C5A-9D827123B988}"/>
              </a:ext>
            </a:extLst>
          </p:cNvPr>
          <p:cNvSpPr/>
          <p:nvPr/>
        </p:nvSpPr>
        <p:spPr>
          <a:xfrm>
            <a:off x="3810002" y="5831598"/>
            <a:ext cx="14225928" cy="3077399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D2D44BD9-D71E-720A-BD55-F13537D9A35E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1919818" y="4405074"/>
            <a:ext cx="0" cy="2685771"/>
          </a:xfrm>
          <a:prstGeom prst="straightConnector1">
            <a:avLst/>
          </a:prstGeom>
          <a:ln w="101600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F5DDA44B-5704-7FD2-B03C-DA51C1D77CF0}"/>
              </a:ext>
            </a:extLst>
          </p:cNvPr>
          <p:cNvCxnSpPr>
            <a:cxnSpLocks/>
            <a:endCxn id="17" idx="0"/>
          </p:cNvCxnSpPr>
          <p:nvPr/>
        </p:nvCxnSpPr>
        <p:spPr>
          <a:xfrm flipH="1">
            <a:off x="1891227" y="7745370"/>
            <a:ext cx="28591" cy="3133621"/>
          </a:xfrm>
          <a:prstGeom prst="straightConnector1">
            <a:avLst/>
          </a:prstGeom>
          <a:ln w="101600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6CEA1F47-D0CA-3824-E047-B2353231BD19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1891227" y="11586877"/>
            <a:ext cx="0" cy="3564208"/>
          </a:xfrm>
          <a:prstGeom prst="straightConnector1">
            <a:avLst/>
          </a:prstGeom>
          <a:ln w="101600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C21136EE-A301-2A08-4553-AF670810D9A8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1891227" y="15858971"/>
            <a:ext cx="0" cy="4399881"/>
          </a:xfrm>
          <a:prstGeom prst="straightConnector1">
            <a:avLst/>
          </a:prstGeom>
          <a:ln w="101600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FD7C5C4D-F0A2-75B0-1505-21574BB43E60}"/>
              </a:ext>
            </a:extLst>
          </p:cNvPr>
          <p:cNvCxnSpPr>
            <a:cxnSpLocks/>
            <a:stCxn id="13" idx="2"/>
            <a:endCxn id="118" idx="0"/>
          </p:cNvCxnSpPr>
          <p:nvPr/>
        </p:nvCxnSpPr>
        <p:spPr>
          <a:xfrm>
            <a:off x="19223211" y="4405074"/>
            <a:ext cx="0" cy="9340655"/>
          </a:xfrm>
          <a:prstGeom prst="straightConnector1">
            <a:avLst/>
          </a:prstGeom>
          <a:ln w="101600">
            <a:solidFill>
              <a:schemeClr val="bg1">
                <a:lumMod val="50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下箭头 59">
            <a:extLst>
              <a:ext uri="{FF2B5EF4-FFF2-40B4-BE49-F238E27FC236}">
                <a16:creationId xmlns:a16="http://schemas.microsoft.com/office/drawing/2014/main" id="{DFFA7832-6CC2-B523-9080-038D5D1B039A}"/>
              </a:ext>
            </a:extLst>
          </p:cNvPr>
          <p:cNvSpPr/>
          <p:nvPr/>
        </p:nvSpPr>
        <p:spPr>
          <a:xfrm>
            <a:off x="9798718" y="2704047"/>
            <a:ext cx="1934128" cy="718133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下箭头 60">
            <a:extLst>
              <a:ext uri="{FF2B5EF4-FFF2-40B4-BE49-F238E27FC236}">
                <a16:creationId xmlns:a16="http://schemas.microsoft.com/office/drawing/2014/main" id="{441F0729-0C3D-ADD4-A4C2-4D082AF45BE5}"/>
              </a:ext>
            </a:extLst>
          </p:cNvPr>
          <p:cNvSpPr/>
          <p:nvPr/>
        </p:nvSpPr>
        <p:spPr>
          <a:xfrm>
            <a:off x="9798718" y="4948723"/>
            <a:ext cx="1934128" cy="825801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下箭头 61">
            <a:extLst>
              <a:ext uri="{FF2B5EF4-FFF2-40B4-BE49-F238E27FC236}">
                <a16:creationId xmlns:a16="http://schemas.microsoft.com/office/drawing/2014/main" id="{6CFF3A9B-3F3A-5B0E-9E7C-42D112F34F62}"/>
              </a:ext>
            </a:extLst>
          </p:cNvPr>
          <p:cNvSpPr/>
          <p:nvPr/>
        </p:nvSpPr>
        <p:spPr>
          <a:xfrm>
            <a:off x="9858070" y="9059115"/>
            <a:ext cx="1934128" cy="949112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下箭头 62">
            <a:extLst>
              <a:ext uri="{FF2B5EF4-FFF2-40B4-BE49-F238E27FC236}">
                <a16:creationId xmlns:a16="http://schemas.microsoft.com/office/drawing/2014/main" id="{EFB3A778-8C5E-B6D2-1243-80E56E2E610D}"/>
              </a:ext>
            </a:extLst>
          </p:cNvPr>
          <p:cNvSpPr/>
          <p:nvPr/>
        </p:nvSpPr>
        <p:spPr>
          <a:xfrm>
            <a:off x="9832698" y="12591448"/>
            <a:ext cx="1934128" cy="1010331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下箭头 63">
            <a:extLst>
              <a:ext uri="{FF2B5EF4-FFF2-40B4-BE49-F238E27FC236}">
                <a16:creationId xmlns:a16="http://schemas.microsoft.com/office/drawing/2014/main" id="{650FCE01-E6E7-AFB7-1466-9BDE1F4D281B}"/>
              </a:ext>
            </a:extLst>
          </p:cNvPr>
          <p:cNvSpPr/>
          <p:nvPr/>
        </p:nvSpPr>
        <p:spPr>
          <a:xfrm>
            <a:off x="9798718" y="18485083"/>
            <a:ext cx="1934128" cy="990447"/>
          </a:xfrm>
          <a:prstGeom prst="down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459B7382-CE62-A441-95E5-9F05150A7BAD}"/>
              </a:ext>
            </a:extLst>
          </p:cNvPr>
          <p:cNvCxnSpPr>
            <a:cxnSpLocks/>
            <a:stCxn id="36" idx="3"/>
            <a:endCxn id="35" idx="1"/>
          </p:cNvCxnSpPr>
          <p:nvPr/>
        </p:nvCxnSpPr>
        <p:spPr>
          <a:xfrm>
            <a:off x="5513562" y="11300093"/>
            <a:ext cx="842522" cy="14253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371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1590</TotalTime>
  <Words>121</Words>
  <Application>Microsoft Macintosh PowerPoint</Application>
  <PresentationFormat>自定义</PresentationFormat>
  <Paragraphs>39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SimHei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Zhenyu Lei</dc:creator>
  <cp:lastModifiedBy>Zhenyu Lei</cp:lastModifiedBy>
  <cp:revision>8</cp:revision>
  <cp:lastPrinted>2025-07-13T11:11:46Z</cp:lastPrinted>
  <dcterms:created xsi:type="dcterms:W3CDTF">2025-07-13T10:00:14Z</dcterms:created>
  <dcterms:modified xsi:type="dcterms:W3CDTF">2025-08-04T15:33:29Z</dcterms:modified>
</cp:coreProperties>
</file>