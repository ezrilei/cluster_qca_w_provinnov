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4320063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34" userDrawn="1">
          <p15:clr>
            <a:srgbClr val="A4A3A4"/>
          </p15:clr>
        </p15:guide>
        <p15:guide id="2" pos="1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78219"/>
  </p:normalViewPr>
  <p:slideViewPr>
    <p:cSldViewPr snapToGrid="0" showGuides="1">
      <p:cViewPr varScale="1">
        <p:scale>
          <a:sx n="35" d="100"/>
          <a:sy n="35" d="100"/>
        </p:scale>
        <p:origin x="280" y="704"/>
      </p:cViewPr>
      <p:guideLst>
        <p:guide orient="horz" pos="5034"/>
        <p:guide pos="1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DFA5E-B198-2F49-B6E4-55F95C0322E0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F8A20-C3C1-3949-BB86-9AA5D89CD9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265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200150" y="1143000"/>
            <a:ext cx="92583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政府作为风险承担者和投资者</a:t>
            </a:r>
            <a:r>
              <a:rPr lang="zh-CN" altLang="en-US" dirty="0"/>
              <a:t> </a:t>
            </a:r>
            <a:endParaRPr kumimoji="1" lang="en-US" altLang="zh-CN" dirty="0"/>
          </a:p>
          <a:p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政府作为市场创造者和塑造者</a:t>
            </a:r>
            <a:r>
              <a:rPr lang="zh-CN" altLang="en-US" dirty="0"/>
              <a:t> </a:t>
            </a:r>
            <a:endParaRPr kumimoji="1" lang="en-US" altLang="zh-CN" dirty="0"/>
          </a:p>
          <a:p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政府作为创新生态系统构建者</a:t>
            </a:r>
            <a:r>
              <a:rPr lang="zh-CN" altLang="en-US" dirty="0"/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F8A20-C3C1-3949-BB86-9AA5D89CD9B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674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80" y="2356703"/>
            <a:ext cx="3240047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7563446"/>
            <a:ext cx="3240047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932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363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4" y="3590055"/>
            <a:ext cx="3726055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4" y="9636811"/>
            <a:ext cx="3726055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562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3833390"/>
            <a:ext cx="1836027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3833390"/>
            <a:ext cx="1836027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022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766679"/>
            <a:ext cx="3726055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3" y="3530053"/>
            <a:ext cx="18275893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3" y="5260078"/>
            <a:ext cx="18275893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3" y="3530053"/>
            <a:ext cx="18365898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3" y="5260078"/>
            <a:ext cx="1836589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172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911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654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960014"/>
            <a:ext cx="1393332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2073365"/>
            <a:ext cx="2187032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4320064"/>
            <a:ext cx="1393332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265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960014"/>
            <a:ext cx="1393332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2073365"/>
            <a:ext cx="2187032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4320064"/>
            <a:ext cx="1393332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158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684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6" y="766678"/>
            <a:ext cx="9315138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4" y="766678"/>
            <a:ext cx="27405405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711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766679"/>
            <a:ext cx="3726055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3833390"/>
            <a:ext cx="3726055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13346865"/>
            <a:ext cx="972014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A16FE-EA87-5742-8E88-AA49701AD195}" type="datetimeFigureOut">
              <a:rPr kumimoji="1" lang="zh-CN" altLang="en-US" smtClean="0"/>
              <a:t>2025/8/16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13346865"/>
            <a:ext cx="14580215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13346865"/>
            <a:ext cx="972014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261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椭圆 50">
            <a:extLst>
              <a:ext uri="{FF2B5EF4-FFF2-40B4-BE49-F238E27FC236}">
                <a16:creationId xmlns:a16="http://schemas.microsoft.com/office/drawing/2014/main" id="{7661BF46-0A23-00BA-8E74-E77018428B59}"/>
              </a:ext>
            </a:extLst>
          </p:cNvPr>
          <p:cNvSpPr/>
          <p:nvPr/>
        </p:nvSpPr>
        <p:spPr>
          <a:xfrm>
            <a:off x="15886955" y="4003494"/>
            <a:ext cx="8640000" cy="864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909F53-F962-645D-7D32-6AB763F1332F}"/>
              </a:ext>
            </a:extLst>
          </p:cNvPr>
          <p:cNvSpPr txBox="1"/>
          <p:nvPr/>
        </p:nvSpPr>
        <p:spPr>
          <a:xfrm rot="16200000">
            <a:off x="15533129" y="3686418"/>
            <a:ext cx="9360000" cy="9360000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1368415"/>
              </a:avLst>
            </a:prstTxWarp>
            <a:spAutoFit/>
          </a:bodyPr>
          <a:lstStyle/>
          <a:p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联动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7067A12-AB04-D4F9-4F72-37E26C6B06ED}"/>
              </a:ext>
            </a:extLst>
          </p:cNvPr>
          <p:cNvSpPr txBox="1"/>
          <p:nvPr/>
        </p:nvSpPr>
        <p:spPr>
          <a:xfrm rot="8925558">
            <a:off x="15439035" y="3629268"/>
            <a:ext cx="9360000" cy="9360000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联动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235F9C5-824E-1DA1-96D4-1F78E0842A95}"/>
              </a:ext>
            </a:extLst>
          </p:cNvPr>
          <p:cNvSpPr txBox="1"/>
          <p:nvPr/>
        </p:nvSpPr>
        <p:spPr>
          <a:xfrm rot="1333603">
            <a:off x="15541865" y="3676032"/>
            <a:ext cx="9360000" cy="936000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19468"/>
              </a:avLst>
            </a:prstTxWarp>
            <a:spAutoFit/>
          </a:bodyPr>
          <a:lstStyle/>
          <a:p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联动</a:t>
            </a:r>
            <a:endParaRPr kumimoji="1" lang="zh-CN" altLang="en-US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EBC9EEAD-D87D-779D-5C5C-08D1B1B9DACC}"/>
              </a:ext>
            </a:extLst>
          </p:cNvPr>
          <p:cNvCxnSpPr>
            <a:cxnSpLocks/>
          </p:cNvCxnSpPr>
          <p:nvPr/>
        </p:nvCxnSpPr>
        <p:spPr>
          <a:xfrm>
            <a:off x="28237590" y="7165122"/>
            <a:ext cx="4695358" cy="34984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85BAF9C-934A-0FA3-3288-DDAC4BBD6937}"/>
              </a:ext>
            </a:extLst>
          </p:cNvPr>
          <p:cNvSpPr txBox="1"/>
          <p:nvPr/>
        </p:nvSpPr>
        <p:spPr>
          <a:xfrm>
            <a:off x="19356454" y="7662408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dirty="0">
                <a:latin typeface="SimHei" panose="02010609060101010101" pitchFamily="49" charset="-122"/>
                <a:ea typeface="SimHei" panose="02010609060101010101" pitchFamily="49" charset="-122"/>
              </a:rPr>
              <a:t>联动</a:t>
            </a:r>
          </a:p>
        </p:txBody>
      </p:sp>
      <p:sp>
        <p:nvSpPr>
          <p:cNvPr id="55" name="res-text">
            <a:extLst>
              <a:ext uri="{FF2B5EF4-FFF2-40B4-BE49-F238E27FC236}">
                <a16:creationId xmlns:a16="http://schemas.microsoft.com/office/drawing/2014/main" id="{DB91AED5-DA93-750C-2AFB-82FF7FD0D318}"/>
              </a:ext>
            </a:extLst>
          </p:cNvPr>
          <p:cNvSpPr txBox="1"/>
          <p:nvPr/>
        </p:nvSpPr>
        <p:spPr>
          <a:xfrm>
            <a:off x="33162322" y="7374375"/>
            <a:ext cx="39549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latin typeface="SimHei" panose="02010609060101010101" pitchFamily="49" charset="-122"/>
                <a:ea typeface="SimHei" panose="02010609060101010101" pitchFamily="49" charset="-122"/>
              </a:rPr>
              <a:t>高（低）</a:t>
            </a:r>
            <a:endParaRPr kumimoji="1" lang="en-US" altLang="zh-CN" sz="3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3600" b="1" dirty="0">
                <a:latin typeface="SimHei" panose="02010609060101010101" pitchFamily="49" charset="-122"/>
                <a:ea typeface="SimHei" panose="02010609060101010101" pitchFamily="49" charset="-122"/>
              </a:rPr>
              <a:t>区域科技创新能力</a:t>
            </a:r>
            <a:endParaRPr kumimoji="1" lang="en-US" altLang="zh-CN" sz="3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5" name="res">
            <a:extLst>
              <a:ext uri="{FF2B5EF4-FFF2-40B4-BE49-F238E27FC236}">
                <a16:creationId xmlns:a16="http://schemas.microsoft.com/office/drawing/2014/main" id="{D78EE8A2-F386-AE18-A4BB-135E1FCD835A}"/>
              </a:ext>
            </a:extLst>
          </p:cNvPr>
          <p:cNvSpPr/>
          <p:nvPr/>
        </p:nvSpPr>
        <p:spPr>
          <a:xfrm>
            <a:off x="33195650" y="6931505"/>
            <a:ext cx="3921602" cy="208607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975BB0-DD5A-38AF-AB00-F40E115BE38A}"/>
              </a:ext>
            </a:extLst>
          </p:cNvPr>
          <p:cNvGrpSpPr/>
          <p:nvPr/>
        </p:nvGrpSpPr>
        <p:grpSpPr>
          <a:xfrm>
            <a:off x="17370927" y="3555502"/>
            <a:ext cx="5582037" cy="3518969"/>
            <a:chOff x="18871736" y="3527889"/>
            <a:chExt cx="5582037" cy="3518969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390A858-E14E-97BA-C019-6877E40A91CC}"/>
                </a:ext>
              </a:extLst>
            </p:cNvPr>
            <p:cNvSpPr/>
            <p:nvPr/>
          </p:nvSpPr>
          <p:spPr>
            <a:xfrm>
              <a:off x="18871736" y="4189797"/>
              <a:ext cx="5582037" cy="2857061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25" name="财政科技投入">
              <a:extLst>
                <a:ext uri="{FF2B5EF4-FFF2-40B4-BE49-F238E27FC236}">
                  <a16:creationId xmlns:a16="http://schemas.microsoft.com/office/drawing/2014/main" id="{9F9D0DCA-F2DE-AAF4-69AC-8B3C071B5C8D}"/>
                </a:ext>
              </a:extLst>
            </p:cNvPr>
            <p:cNvSpPr txBox="1"/>
            <p:nvPr/>
          </p:nvSpPr>
          <p:spPr>
            <a:xfrm>
              <a:off x="20729019" y="4758365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3600" dirty="0">
                  <a:latin typeface="SimSun" panose="02010600030101010101" pitchFamily="2" charset="-122"/>
                  <a:ea typeface="SimSun" panose="02010600030101010101" pitchFamily="2" charset="-122"/>
                </a:rPr>
                <a:t>研发投入</a:t>
              </a:r>
            </a:p>
          </p:txBody>
        </p:sp>
        <p:sp>
          <p:nvSpPr>
            <p:cNvPr id="26" name="孵化基⾦⽀持 ">
              <a:extLst>
                <a:ext uri="{FF2B5EF4-FFF2-40B4-BE49-F238E27FC236}">
                  <a16:creationId xmlns:a16="http://schemas.microsoft.com/office/drawing/2014/main" id="{D5562099-FDD6-9018-BD97-51AD44967108}"/>
                </a:ext>
              </a:extLst>
            </p:cNvPr>
            <p:cNvSpPr txBox="1"/>
            <p:nvPr/>
          </p:nvSpPr>
          <p:spPr>
            <a:xfrm>
              <a:off x="19672922" y="5427109"/>
              <a:ext cx="38779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政府引导基金支持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" name="政府创新补助&#13;&#10;">
              <a:extLst>
                <a:ext uri="{FF2B5EF4-FFF2-40B4-BE49-F238E27FC236}">
                  <a16:creationId xmlns:a16="http://schemas.microsoft.com/office/drawing/2014/main" id="{85D21E2A-82CB-EC07-FF76-4768AF159993}"/>
                </a:ext>
              </a:extLst>
            </p:cNvPr>
            <p:cNvSpPr txBox="1"/>
            <p:nvPr/>
          </p:nvSpPr>
          <p:spPr>
            <a:xfrm>
              <a:off x="20373771" y="6047657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政府创新补助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CBB5C39-B328-5120-FB1E-F54B6962B4DD}"/>
                </a:ext>
              </a:extLst>
            </p:cNvPr>
            <p:cNvSpPr txBox="1"/>
            <p:nvPr/>
          </p:nvSpPr>
          <p:spPr>
            <a:xfrm>
              <a:off x="19493752" y="3527889"/>
              <a:ext cx="4435830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i="0" u="none" strike="noStrike" dirty="0">
                  <a:solidFill>
                    <a:srgbClr val="000000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政府作为</a:t>
              </a:r>
              <a:endParaRPr lang="en-US" altLang="zh-CN" sz="3600" b="1" i="0" u="none" strike="noStrike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algn="ctr"/>
              <a:r>
                <a:rPr lang="zh-CN" altLang="en-US" sz="3600" b="1" i="0" u="none" strike="noStrike" dirty="0">
                  <a:solidFill>
                    <a:srgbClr val="000000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风险承担者与投资者</a:t>
              </a:r>
              <a:endParaRPr kumimoji="1" lang="en-US" altLang="zh-CN" sz="3600" b="1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F646E47-41C4-A95C-0346-F6B8AF63D958}"/>
              </a:ext>
            </a:extLst>
          </p:cNvPr>
          <p:cNvGrpSpPr/>
          <p:nvPr/>
        </p:nvGrpSpPr>
        <p:grpSpPr>
          <a:xfrm>
            <a:off x="13222016" y="8154245"/>
            <a:ext cx="5582036" cy="3477610"/>
            <a:chOff x="19029417" y="6122922"/>
            <a:chExt cx="5582036" cy="347761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6330C75-D443-E7AB-5B82-51C239105E5F}"/>
                </a:ext>
              </a:extLst>
            </p:cNvPr>
            <p:cNvSpPr/>
            <p:nvPr/>
          </p:nvSpPr>
          <p:spPr>
            <a:xfrm>
              <a:off x="19029417" y="6743470"/>
              <a:ext cx="5582036" cy="2857062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39" name="财政科技投入">
              <a:extLst>
                <a:ext uri="{FF2B5EF4-FFF2-40B4-BE49-F238E27FC236}">
                  <a16:creationId xmlns:a16="http://schemas.microsoft.com/office/drawing/2014/main" id="{3FB029E8-1D88-73C0-9298-D35FC1D54099}"/>
                </a:ext>
              </a:extLst>
            </p:cNvPr>
            <p:cNvSpPr txBox="1"/>
            <p:nvPr/>
          </p:nvSpPr>
          <p:spPr>
            <a:xfrm>
              <a:off x="20362653" y="7371872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孵化基金支持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40" name="孵化基⾦⽀持 ">
              <a:extLst>
                <a:ext uri="{FF2B5EF4-FFF2-40B4-BE49-F238E27FC236}">
                  <a16:creationId xmlns:a16="http://schemas.microsoft.com/office/drawing/2014/main" id="{6CD247F0-B537-0E11-015E-4443A54589BD}"/>
                </a:ext>
              </a:extLst>
            </p:cNvPr>
            <p:cNvSpPr txBox="1"/>
            <p:nvPr/>
          </p:nvSpPr>
          <p:spPr>
            <a:xfrm>
              <a:off x="20344991" y="8074838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众创空间服务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21EAD0B-54A5-FAB1-16AC-F3A63B8C0C73}"/>
                </a:ext>
              </a:extLst>
            </p:cNvPr>
            <p:cNvSpPr txBox="1"/>
            <p:nvPr/>
          </p:nvSpPr>
          <p:spPr>
            <a:xfrm>
              <a:off x="19617797" y="6122922"/>
              <a:ext cx="4435830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i="0" u="none" strike="noStrike" dirty="0">
                  <a:solidFill>
                    <a:srgbClr val="000000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政府作为</a:t>
              </a:r>
              <a:endParaRPr lang="en-US" altLang="zh-CN" sz="3600" b="1" i="0" u="none" strike="noStrike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algn="ctr"/>
              <a:r>
                <a:rPr lang="zh-CN" altLang="en-US" sz="3600" b="1" i="0" u="none" strike="noStrike" dirty="0">
                  <a:solidFill>
                    <a:srgbClr val="000000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市场创造者与塑造者</a:t>
              </a:r>
            </a:p>
          </p:txBody>
        </p:sp>
        <p:sp>
          <p:nvSpPr>
            <p:cNvPr id="9" name="孵化基⾦⽀持 ">
              <a:extLst>
                <a:ext uri="{FF2B5EF4-FFF2-40B4-BE49-F238E27FC236}">
                  <a16:creationId xmlns:a16="http://schemas.microsoft.com/office/drawing/2014/main" id="{B595CBB5-ED6C-42D1-A661-8A6B13B9C953}"/>
                </a:ext>
              </a:extLst>
            </p:cNvPr>
            <p:cNvSpPr txBox="1"/>
            <p:nvPr/>
          </p:nvSpPr>
          <p:spPr>
            <a:xfrm>
              <a:off x="20407141" y="8777804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政府创新采购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6AE95A-A276-E281-FB84-BA9905D20142}"/>
              </a:ext>
            </a:extLst>
          </p:cNvPr>
          <p:cNvGrpSpPr/>
          <p:nvPr/>
        </p:nvGrpSpPr>
        <p:grpSpPr>
          <a:xfrm>
            <a:off x="21807788" y="8321743"/>
            <a:ext cx="5582036" cy="3310112"/>
            <a:chOff x="18815539" y="8733236"/>
            <a:chExt cx="5582036" cy="331011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5FEAE45-F3A3-684B-5646-07B9F49AFAA0}"/>
                </a:ext>
              </a:extLst>
            </p:cNvPr>
            <p:cNvSpPr/>
            <p:nvPr/>
          </p:nvSpPr>
          <p:spPr>
            <a:xfrm>
              <a:off x="18815539" y="9186286"/>
              <a:ext cx="5582036" cy="2857062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48" name="财政科技投入">
              <a:extLst>
                <a:ext uri="{FF2B5EF4-FFF2-40B4-BE49-F238E27FC236}">
                  <a16:creationId xmlns:a16="http://schemas.microsoft.com/office/drawing/2014/main" id="{287B0B7B-E917-E531-3E95-45C892938618}"/>
                </a:ext>
              </a:extLst>
            </p:cNvPr>
            <p:cNvSpPr txBox="1"/>
            <p:nvPr/>
          </p:nvSpPr>
          <p:spPr>
            <a:xfrm>
              <a:off x="20195138" y="9925691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培育科技人员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49" name="孵化基⾦⽀持 ">
              <a:extLst>
                <a:ext uri="{FF2B5EF4-FFF2-40B4-BE49-F238E27FC236}">
                  <a16:creationId xmlns:a16="http://schemas.microsoft.com/office/drawing/2014/main" id="{1A5A7517-7FF6-0DDF-42C6-C480A1C9D927}"/>
                </a:ext>
              </a:extLst>
            </p:cNvPr>
            <p:cNvSpPr txBox="1"/>
            <p:nvPr/>
          </p:nvSpPr>
          <p:spPr>
            <a:xfrm>
              <a:off x="20031495" y="10578020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培育创新型企业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294891F-B17A-E13D-A721-AEC489F5514C}"/>
                </a:ext>
              </a:extLst>
            </p:cNvPr>
            <p:cNvSpPr txBox="1"/>
            <p:nvPr/>
          </p:nvSpPr>
          <p:spPr>
            <a:xfrm>
              <a:off x="19491350" y="8733236"/>
              <a:ext cx="4426212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i="0" u="none" strike="noStrike" dirty="0">
                  <a:solidFill>
                    <a:srgbClr val="000000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政府作为</a:t>
              </a:r>
              <a:endParaRPr lang="en-US" altLang="zh-CN" sz="3600" b="1" i="0" u="none" strike="noStrike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algn="ctr"/>
              <a:r>
                <a:rPr lang="zh-CN" altLang="en-US" sz="3600" b="1" i="0" u="none" strike="noStrike" dirty="0">
                  <a:solidFill>
                    <a:srgbClr val="000000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创新生态系统构建者</a:t>
              </a:r>
            </a:p>
          </p:txBody>
        </p:sp>
        <p:sp>
          <p:nvSpPr>
            <p:cNvPr id="10" name="孵化基⾦⽀持 ">
              <a:extLst>
                <a:ext uri="{FF2B5EF4-FFF2-40B4-BE49-F238E27FC236}">
                  <a16:creationId xmlns:a16="http://schemas.microsoft.com/office/drawing/2014/main" id="{C0656C8C-227E-EFBD-71CB-EE17A2A69A0A}"/>
                </a:ext>
              </a:extLst>
            </p:cNvPr>
            <p:cNvSpPr txBox="1"/>
            <p:nvPr/>
          </p:nvSpPr>
          <p:spPr>
            <a:xfrm>
              <a:off x="20275881" y="11284385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知识产权保护</a:t>
              </a:r>
              <a:endPara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</p:grp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0581804D-2D29-4FD4-6D99-0566CD2DB27E}"/>
              </a:ext>
            </a:extLst>
          </p:cNvPr>
          <p:cNvCxnSpPr>
            <a:cxnSpLocks/>
          </p:cNvCxnSpPr>
          <p:nvPr/>
        </p:nvCxnSpPr>
        <p:spPr>
          <a:xfrm flipH="1" flipV="1">
            <a:off x="28157113" y="8772797"/>
            <a:ext cx="4736573" cy="9768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必要性">
            <a:extLst>
              <a:ext uri="{FF2B5EF4-FFF2-40B4-BE49-F238E27FC236}">
                <a16:creationId xmlns:a16="http://schemas.microsoft.com/office/drawing/2014/main" id="{7AFC2773-1C61-5237-3BF0-7C2534DF20FE}"/>
              </a:ext>
            </a:extLst>
          </p:cNvPr>
          <p:cNvSpPr txBox="1"/>
          <p:nvPr/>
        </p:nvSpPr>
        <p:spPr>
          <a:xfrm>
            <a:off x="28709382" y="8802892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单一条件必要性分析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35288A6-4363-7EB6-DEA9-AB61779E0CF6}"/>
              </a:ext>
            </a:extLst>
          </p:cNvPr>
          <p:cNvSpPr txBox="1"/>
          <p:nvPr/>
        </p:nvSpPr>
        <p:spPr>
          <a:xfrm>
            <a:off x="28157113" y="644537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条件组态充分性分析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2156620-65F2-D71E-111E-FEB24177285F}"/>
              </a:ext>
            </a:extLst>
          </p:cNvPr>
          <p:cNvSpPr/>
          <p:nvPr/>
        </p:nvSpPr>
        <p:spPr>
          <a:xfrm>
            <a:off x="12583370" y="3084770"/>
            <a:ext cx="15457658" cy="10705098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前因条件">
            <a:extLst>
              <a:ext uri="{FF2B5EF4-FFF2-40B4-BE49-F238E27FC236}">
                <a16:creationId xmlns:a16="http://schemas.microsoft.com/office/drawing/2014/main" id="{C80819BB-98E9-B533-0B97-BD9801B05C36}"/>
              </a:ext>
            </a:extLst>
          </p:cNvPr>
          <p:cNvSpPr txBox="1"/>
          <p:nvPr/>
        </p:nvSpPr>
        <p:spPr>
          <a:xfrm>
            <a:off x="19052124" y="2545146"/>
            <a:ext cx="2646878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4800" dirty="0">
                <a:latin typeface="SimHei" panose="02010609060101010101" pitchFamily="49" charset="-122"/>
                <a:ea typeface="SimHei" panose="02010609060101010101" pitchFamily="49" charset="-122"/>
              </a:rPr>
              <a:t>前因条件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27EEAB8-1FDB-C35B-ED8B-A1CCD503BE35}"/>
              </a:ext>
            </a:extLst>
          </p:cNvPr>
          <p:cNvSpPr/>
          <p:nvPr/>
        </p:nvSpPr>
        <p:spPr>
          <a:xfrm>
            <a:off x="32932947" y="3084770"/>
            <a:ext cx="4339651" cy="10670114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结果&#13;&#10;">
            <a:extLst>
              <a:ext uri="{FF2B5EF4-FFF2-40B4-BE49-F238E27FC236}">
                <a16:creationId xmlns:a16="http://schemas.microsoft.com/office/drawing/2014/main" id="{D78AA896-2C44-9005-AD6A-8F9123B56516}"/>
              </a:ext>
            </a:extLst>
          </p:cNvPr>
          <p:cNvSpPr txBox="1"/>
          <p:nvPr/>
        </p:nvSpPr>
        <p:spPr>
          <a:xfrm>
            <a:off x="34236367" y="2639138"/>
            <a:ext cx="184016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dirty="0">
                <a:latin typeface="SimHei" panose="02010609060101010101" pitchFamily="49" charset="-122"/>
                <a:ea typeface="SimHei" panose="02010609060101010101" pitchFamily="49" charset="-122"/>
              </a:rPr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312418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91</Words>
  <Application>Microsoft Macintosh PowerPoint</Application>
  <PresentationFormat>自定义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FangSong</vt:lpstr>
      <vt:lpstr>SimHei</vt:lpstr>
      <vt:lpstr>SimSun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Zhenyu Lei</dc:creator>
  <cp:lastModifiedBy>Zhenyu Lei</cp:lastModifiedBy>
  <cp:revision>8</cp:revision>
  <dcterms:created xsi:type="dcterms:W3CDTF">2024-10-21T15:10:02Z</dcterms:created>
  <dcterms:modified xsi:type="dcterms:W3CDTF">2025-08-16T08:39:59Z</dcterms:modified>
</cp:coreProperties>
</file>